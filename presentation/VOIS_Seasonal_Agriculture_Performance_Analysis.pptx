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panshu bhardwaj" userId="e61412159daea362" providerId="LiveId" clId="{DB76DECD-1731-468D-BFFC-B4BFD0C8195B}"/>
    <pc:docChg chg="custSel modSld">
      <pc:chgData name="dipanshu bhardwaj" userId="e61412159daea362" providerId="LiveId" clId="{DB76DECD-1731-468D-BFFC-B4BFD0C8195B}" dt="2026-09-09T06:46:40.630" v="108" actId="1076"/>
      <pc:docMkLst>
        <pc:docMk/>
      </pc:docMkLst>
      <pc:sldChg chg="modSp mod">
        <pc:chgData name="dipanshu bhardwaj" userId="e61412159daea362" providerId="LiveId" clId="{DB76DECD-1731-468D-BFFC-B4BFD0C8195B}" dt="2026-09-09T06:46:40.630" v="108" actId="1076"/>
        <pc:sldMkLst>
          <pc:docMk/>
          <pc:sldMk cId="3401748718" sldId="304"/>
        </pc:sldMkLst>
        <pc:spChg chg="mod">
          <ac:chgData name="dipanshu bhardwaj" userId="e61412159daea362" providerId="LiveId" clId="{DB76DECD-1731-468D-BFFC-B4BFD0C8195B}" dt="2026-09-09T06:46:40.630" v="108" actId="1076"/>
          <ac:spMkLst>
            <pc:docMk/>
            <pc:sldMk cId="3401748718" sldId="304"/>
            <ac:spMk id="12" creationId="{BC277FD7-925B-4C3D-A364-11840320150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653493" y="3928122"/>
            <a:ext cx="8986121" cy="1248512"/>
          </a:xfrm>
        </p:spPr>
        <p:txBody>
          <a:bodyPr vert="horz" lIns="91440" tIns="45720" rIns="91440" bIns="45720" rtlCol="0" anchor="t">
            <a:normAutofit/>
          </a:bodyPr>
          <a:lstStyle/>
          <a:p>
            <a:pPr algn="ctr"/>
            <a:r>
              <a:rPr lang="en-US" b="0" dirty="0">
                <a:solidFill>
                  <a:schemeClr val="tx1"/>
                </a:solidFill>
              </a:rPr>
              <a:t>Dipanshu Bhardwaj</a:t>
            </a:r>
            <a:endParaRPr lang="en-IN" b="0" dirty="0">
              <a:solidFill>
                <a:schemeClr val="tx1"/>
              </a:solidFill>
            </a:endParaRPr>
          </a:p>
          <a:p>
            <a:r>
              <a:rPr lang="en-US" b="0" dirty="0">
                <a:solidFill>
                  <a:schemeClr val="tx1"/>
                </a:solidFill>
              </a:rPr>
              <a:t>                                           World College of Technology and Management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861409"/>
            <a:ext cx="3758029" cy="646331"/>
          </a:xfrm>
          <a:prstGeom prst="rect">
            <a:avLst/>
          </a:prstGeom>
          <a:noFill/>
        </p:spPr>
        <p:txBody>
          <a:bodyPr wrap="square" rtlCol="0">
            <a:spAutoFit/>
          </a:bodyPr>
          <a:lstStyle/>
          <a:p>
            <a:r>
              <a:rPr lang="en-US" b="1" dirty="0"/>
              <a:t>AICTE STU ID : STU6a2bb2a6004e11781248678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a:bodyPr>
          <a:lstStyle/>
          <a:p>
            <a:pPr>
              <a:lnSpc>
                <a:spcPct val="150000"/>
              </a:lnSpc>
            </a:pPr>
            <a:r>
              <a:rPr lang="en-IN" sz="2000" dirty="0"/>
              <a:t>Agricultural productivity and profitability vary widely across the Kharif, Rabi, and Zaid seasons due to differences in rainfall, temperature, soil moisture, and resource usage. Farmers and policymakers currently lack a clear, data-driven understanding of which season performs best and why, making it difficult to plan crop choices, resource allocation, and investment decisions effectively.</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sz="3200" dirty="0"/>
              <a:t>Project Description</a:t>
            </a:r>
          </a:p>
        </p:txBody>
      </p:sp>
      <p:sp>
        <p:nvSpPr>
          <p:cNvPr id="16" name="Description Body"/>
          <p:cNvSpPr txBox="1"/>
          <p:nvPr/>
        </p:nvSpPr>
        <p:spPr>
          <a:xfrm>
            <a:off x="660399" y="1875556"/>
            <a:ext cx="6431280" cy="3607987"/>
          </a:xfrm>
          <a:prstGeom prst="rect">
            <a:avLst/>
          </a:prstGeom>
        </p:spPr>
        <p:txBody>
          <a:bodyPr vert="horz" lIns="91440" tIns="45720" rIns="91440" bIns="45720" rtlCol="0" anchor="t">
            <a:normAutofit lnSpcReduction="10000"/>
          </a:bodyPr>
          <a:lstStyle/>
          <a:p>
            <a:pPr algn="just">
              <a:lnSpc>
                <a:spcPct val="150000"/>
              </a:lnSpc>
            </a:pPr>
            <a:r>
              <a:rPr lang="en-GB" sz="2000" dirty="0"/>
              <a:t>This project analyzes a dataset of 4,000 farm records across 8 Indian states to study how season (Kharif, Rabi, Zaid) affects agricultural yield, production, revenue, and profit. The workflow covers data cleaning, exploratory data analysis, and correlation analysis of environmental and resource factors to identify the most productive and profitable season, and to compare performance across crops and regions.</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2000" dirty="0"/>
              <a:t>Farmers and farming cooperatives planning crop and season choices</a:t>
            </a:r>
          </a:p>
          <a:p>
            <a:pPr algn="just">
              <a:lnSpc>
                <a:spcPct val="150000"/>
              </a:lnSpc>
            </a:pPr>
            <a:r>
              <a:rPr lang="en-IN" sz="2000" dirty="0"/>
              <a:t>Agricultural policymakers and government agriculture departments</a:t>
            </a:r>
          </a:p>
          <a:p>
            <a:pPr algn="just">
              <a:lnSpc>
                <a:spcPct val="150000"/>
              </a:lnSpc>
            </a:pPr>
            <a:r>
              <a:rPr lang="en-IN" sz="2000" dirty="0"/>
              <a:t>Agri-tech companies and researchers studying crop performance</a:t>
            </a:r>
          </a:p>
          <a:p>
            <a:pPr algn="just">
              <a:lnSpc>
                <a:spcPct val="150000"/>
              </a:lnSpc>
            </a:pPr>
            <a:r>
              <a:rPr lang="en-IN" sz="2000" dirty="0"/>
              <a:t>Banks and crop insurance providers assessing seasonal risk</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sz="2000" dirty="0"/>
              <a:t>Python – core programming language for analysis</a:t>
            </a:r>
          </a:p>
          <a:p>
            <a:pPr lvl="1">
              <a:lnSpc>
                <a:spcPct val="150000"/>
              </a:lnSpc>
            </a:pPr>
            <a:r>
              <a:rPr lang="en-IN" sz="2000" dirty="0"/>
              <a:t>Pandas &amp; NumPy – data cleaning and numerical analysis</a:t>
            </a:r>
          </a:p>
          <a:p>
            <a:pPr lvl="1">
              <a:lnSpc>
                <a:spcPct val="150000"/>
              </a:lnSpc>
            </a:pPr>
            <a:r>
              <a:rPr lang="en-IN" sz="2000" dirty="0"/>
              <a:t>Matplotlib &amp; Seaborn – data visualization and charts</a:t>
            </a:r>
          </a:p>
          <a:p>
            <a:pPr lvl="1">
              <a:lnSpc>
                <a:spcPct val="150000"/>
              </a:lnSpc>
            </a:pPr>
            <a:r>
              <a:rPr lang="en-IN" sz="2000" dirty="0"/>
              <a:t>Jupyter Notebook – interactive development environment</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431693"/>
            <a:ext cx="9500000" cy="450000"/>
          </a:xfrm>
        </p:spPr>
        <p:txBody>
          <a:bodyPr vert="horz" lIns="91440" tIns="45720" rIns="91440" bIns="45720" rtlCol="0" anchor="t">
            <a:normAutofit/>
          </a:bodyPr>
          <a:lstStyle/>
          <a:p>
            <a:pPr marL="0" indent="0">
              <a:buNone/>
            </a:pPr>
            <a:r>
              <a:rPr lang="en-US" sz="1800" b="1" dirty="0"/>
              <a:t>Distribution of Farm Records Across Seasons</a:t>
            </a:r>
            <a:endParaRPr lang="en-IN" dirty="0"/>
          </a:p>
        </p:txBody>
      </p:sp>
      <p:pic>
        <p:nvPicPr>
          <p:cNvPr id="31" name="Picture 30" descr="cell033_0.png"/>
          <p:cNvPicPr>
            <a:picLocks noChangeAspect="1"/>
          </p:cNvPicPr>
          <p:nvPr/>
        </p:nvPicPr>
        <p:blipFill>
          <a:blip r:embed="rId3"/>
          <a:stretch>
            <a:fillRect/>
          </a:stretch>
        </p:blipFill>
        <p:spPr>
          <a:xfrm>
            <a:off x="1270046" y="2150000"/>
            <a:ext cx="6360068" cy="4228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7" y="1431693"/>
            <a:ext cx="9500000" cy="450000"/>
          </a:xfrm>
        </p:spPr>
        <p:txBody>
          <a:bodyPr/>
          <a:lstStyle/>
          <a:p>
            <a:pPr marL="0" indent="0">
              <a:buNone/>
            </a:pPr>
            <a:r>
              <a:rPr lang="en-US" sz="1800" b="1" dirty="0"/>
              <a:t>Seasonal Performance Heatmap – Yield, Production, Revenue &amp; Profit</a:t>
            </a:r>
            <a:endParaRPr lang="en-IN" dirty="0"/>
          </a:p>
        </p:txBody>
      </p:sp>
      <p:pic>
        <p:nvPicPr>
          <p:cNvPr id="31" name="Picture 30" descr="cell043_0.png"/>
          <p:cNvPicPr>
            <a:picLocks noChangeAspect="1"/>
          </p:cNvPicPr>
          <p:nvPr/>
        </p:nvPicPr>
        <p:blipFill>
          <a:blip r:embed="rId3"/>
          <a:stretch>
            <a:fillRect/>
          </a:stretch>
        </p:blipFill>
        <p:spPr>
          <a:xfrm>
            <a:off x="676228" y="2150000"/>
            <a:ext cx="7547703" cy="4228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431693"/>
            <a:ext cx="9500000" cy="450000"/>
          </a:xfrm>
        </p:spPr>
        <p:txBody>
          <a:bodyPr/>
          <a:lstStyle/>
          <a:p>
            <a:pPr marL="0" indent="0">
              <a:buNone/>
            </a:pPr>
            <a:r>
              <a:rPr lang="en-US" sz="1800" b="1" dirty="0"/>
              <a:t>Correlation Between Environmental Factors and Yield</a:t>
            </a:r>
            <a:endParaRPr lang="en-IN" dirty="0"/>
          </a:p>
        </p:txBody>
      </p:sp>
      <p:pic>
        <p:nvPicPr>
          <p:cNvPr id="31" name="Picture 30" descr="cell062_0.png"/>
          <p:cNvPicPr>
            <a:picLocks noChangeAspect="1"/>
          </p:cNvPicPr>
          <p:nvPr/>
        </p:nvPicPr>
        <p:blipFill>
          <a:blip r:embed="rId3"/>
          <a:stretch>
            <a:fillRect/>
          </a:stretch>
        </p:blipFill>
        <p:spPr>
          <a:xfrm>
            <a:off x="1842426" y="2150000"/>
            <a:ext cx="5215307" cy="4228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431693"/>
            <a:ext cx="9500000" cy="450000"/>
          </a:xfrm>
        </p:spPr>
        <p:txBody>
          <a:bodyPr/>
          <a:lstStyle/>
          <a:p>
            <a:pPr marL="0" indent="0">
              <a:buNone/>
            </a:pPr>
            <a:r>
              <a:rPr lang="en-US" sz="1800" b="1" dirty="0"/>
              <a:t>Final Seasonal Comparison – Yield, Revenue &amp; Profit</a:t>
            </a:r>
            <a:endParaRPr lang="en-IN" dirty="0"/>
          </a:p>
        </p:txBody>
      </p:sp>
      <p:pic>
        <p:nvPicPr>
          <p:cNvPr id="31" name="Picture 30" descr="cell149_0.png"/>
          <p:cNvPicPr>
            <a:picLocks noChangeAspect="1"/>
          </p:cNvPicPr>
          <p:nvPr/>
        </p:nvPicPr>
        <p:blipFill>
          <a:blip r:embed="rId3"/>
          <a:stretch>
            <a:fillRect/>
          </a:stretch>
        </p:blipFill>
        <p:spPr>
          <a:xfrm>
            <a:off x="609600" y="3079711"/>
            <a:ext cx="7680960" cy="23685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431693"/>
            <a:ext cx="9500000" cy="450000"/>
          </a:xfrm>
        </p:spPr>
        <p:txBody>
          <a:bodyPr/>
          <a:lstStyle/>
          <a:p>
            <a:pPr marL="0" indent="0">
              <a:buNone/>
            </a:pPr>
            <a:r>
              <a:rPr lang="en-US" sz="1800" b="1" dirty="0"/>
              <a:t>Seasonal Agriculture Performance Dashboard</a:t>
            </a:r>
            <a:endParaRPr lang="en-IN" dirty="0"/>
          </a:p>
        </p:txBody>
      </p:sp>
      <p:pic>
        <p:nvPicPr>
          <p:cNvPr id="31" name="Picture 30" descr="cell154_0.png"/>
          <p:cNvPicPr>
            <a:picLocks noChangeAspect="1"/>
          </p:cNvPicPr>
          <p:nvPr/>
        </p:nvPicPr>
        <p:blipFill>
          <a:blip r:embed="rId3"/>
          <a:stretch>
            <a:fillRect/>
          </a:stretch>
        </p:blipFill>
        <p:spPr>
          <a:xfrm>
            <a:off x="609600" y="2536661"/>
            <a:ext cx="7680960" cy="345467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600" dirty="0"/>
              <a:t>Predictive Yield Modeling</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600" dirty="0"/>
              <a:t>Real-Time Data Integration</a:t>
            </a:r>
          </a:p>
        </p:txBody>
      </p:sp>
      <p:sp>
        <p:nvSpPr>
          <p:cNvPr id="20" name="Future Scope Body"/>
          <p:cNvSpPr txBox="1"/>
          <p:nvPr/>
        </p:nvSpPr>
        <p:spPr>
          <a:xfrm>
            <a:off x="675957" y="2400000"/>
            <a:ext cx="7680960" cy="3800000"/>
          </a:xfrm>
          <a:prstGeom prst="rect">
            <a:avLst/>
          </a:prstGeom>
        </p:spPr>
        <p:txBody>
          <a:bodyPr vert="horz" lIns="91440" tIns="45720" rIns="91440" bIns="45720" rtlCol="0" anchor="t">
            <a:normAutofit/>
          </a:bodyPr>
          <a:lstStyle/>
          <a:p>
            <a:pPr marL="285750" indent="-285750" algn="just">
              <a:lnSpc>
                <a:spcPct val="150000"/>
              </a:lnSpc>
              <a:buFont typeface="Arial" panose="020B0604020202020204" pitchFamily="34" charset="0"/>
              <a:buChar char="•"/>
            </a:pPr>
            <a:r>
              <a:rPr lang="en-IN" sz="2000" dirty="0"/>
              <a:t>Build a machine learning model to predict crop yield from rainfall, soil, and resource-usage data</a:t>
            </a:r>
          </a:p>
          <a:p>
            <a:pPr marL="285750" indent="-285750" algn="just">
              <a:lnSpc>
                <a:spcPct val="150000"/>
              </a:lnSpc>
              <a:buFont typeface="Arial" panose="020B0604020202020204" pitchFamily="34" charset="0"/>
              <a:buChar char="•"/>
            </a:pPr>
            <a:r>
              <a:rPr lang="en-IN" sz="2000" dirty="0"/>
              <a:t>Integrate live weather and market-price feeds for up-to-date seasonal recommendations</a:t>
            </a:r>
          </a:p>
          <a:p>
            <a:pPr marL="285750" indent="-285750" algn="just">
              <a:lnSpc>
                <a:spcPct val="150000"/>
              </a:lnSpc>
              <a:buFont typeface="Arial" panose="020B0604020202020204" pitchFamily="34" charset="0"/>
              <a:buChar char="•"/>
            </a:pPr>
            <a:r>
              <a:rPr lang="en-IN" sz="2000" dirty="0"/>
              <a:t>Extend the analysis to more states, districts, and crop varieties for broader coverage</a:t>
            </a:r>
          </a:p>
          <a:p>
            <a:pPr marL="285750" indent="-285750" algn="just">
              <a:lnSpc>
                <a:spcPct val="150000"/>
              </a:lnSpc>
              <a:buFont typeface="Arial" panose="020B0604020202020204" pitchFamily="34" charset="0"/>
              <a:buChar char="•"/>
            </a:pPr>
            <a:r>
              <a:rPr lang="en-IN" sz="2000" dirty="0"/>
              <a:t>Develop an interactive dashboard so farmers and policymakers can explore results directly</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1800" b="1" dirty="0"/>
              <a:t>Repository</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675957" y="2225629"/>
            <a:ext cx="8243925"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https://github.com/dipanshu1225/Seasonal-Agriculture-Performance-Analysis</a:t>
            </a:r>
            <a:endParaRPr lang="en-GB" sz="16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95B2F95-498D-40DB-34AF-4F7D45A4EBCD}"/>
              </a:ext>
            </a:extLst>
          </p:cNvPr>
          <p:cNvPicPr>
            <a:picLocks noChangeAspect="1"/>
          </p:cNvPicPr>
          <p:nvPr/>
        </p:nvPicPr>
        <p:blipFill>
          <a:blip r:embed="rId3"/>
          <a:stretch>
            <a:fillRect/>
          </a:stretch>
        </p:blipFill>
        <p:spPr>
          <a:xfrm>
            <a:off x="583553" y="1608410"/>
            <a:ext cx="6843132" cy="483208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851955" y="2753477"/>
            <a:ext cx="4383740" cy="1096378"/>
          </a:xfrm>
        </p:spPr>
        <p:txBody>
          <a:bodyPr>
            <a:normAutofit/>
          </a:bodyPr>
          <a:lstStyle/>
          <a:p>
            <a:r>
              <a:rPr lang="en-IN" dirty="0"/>
              <a:t>Sincerely, Dipanshu Bhardwaj</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580</TotalTime>
  <Words>359</Words>
  <Application>Microsoft Office PowerPoint</Application>
  <PresentationFormat>Widescreen</PresentationFormat>
  <Paragraphs>44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dipanshu bhardwaj</cp:lastModifiedBy>
  <cp:revision>98</cp:revision>
  <dcterms:created xsi:type="dcterms:W3CDTF">2021-07-11T13:13:15Z</dcterms:created>
  <dcterms:modified xsi:type="dcterms:W3CDTF">2026-09-09T06:46:46Z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